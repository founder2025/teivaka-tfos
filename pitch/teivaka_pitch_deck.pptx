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1A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18872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Georgia"/>
              </a:rPr>
              <a:t>TEIVAKA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96596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9ED080"/>
                </a:solidFill>
                <a:latin typeface="Calibri"/>
              </a:rPr>
              <a:t>GENERATE WEALTH FROM IDLE LANDS · FIJI · PRE-SEED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46888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5200" b="1" i="0">
                <a:solidFill>
                  <a:srgbClr val="FFFFFF"/>
                </a:solidFill>
                <a:latin typeface="Georgia"/>
              </a:rPr>
              <a:t>Transform idle land into wealth.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114800"/>
            <a:ext cx="8686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ECE3D1"/>
                </a:solidFill>
                <a:latin typeface="Calibri"/>
              </a:rPr>
              <a:t>Fiji's first AI-powered agriculture operating system — making smallholder farmers visible, bankable, and profitable.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212080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9ED080"/>
                </a:solidFill>
                <a:latin typeface="Calibri"/>
              </a:rPr>
              <a:t>VISION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486400"/>
            <a:ext cx="2834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Georgia"/>
              </a:rPr>
              <a:t>Idle land → wealth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5212080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9ED080"/>
                </a:solidFill>
                <a:latin typeface="Calibri"/>
              </a:rPr>
              <a:t>MISSION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5486400"/>
            <a:ext cx="2834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Georgia"/>
              </a:rPr>
              <a:t>Every farmer prospers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5212080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9ED080"/>
                </a:solidFill>
                <a:latin typeface="Calibri"/>
              </a:rPr>
              <a:t>GOAL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5486400"/>
            <a:ext cx="2834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Georgia"/>
              </a:rPr>
              <a:t>Future of Pacific ag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6355080"/>
            <a:ext cx="10545775" cy="10972"/>
          </a:xfrm>
          <a:prstGeom prst="rect">
            <a:avLst/>
          </a:prstGeom>
          <a:solidFill>
            <a:srgbClr val="554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6400800"/>
            <a:ext cx="6858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ECE3D1"/>
                </a:solidFill>
                <a:latin typeface="Calibri"/>
              </a:rPr>
              <a:t>Uraia Koroi Kama (Cody), Founder · founder@teivaka.com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39535" y="640080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1">
                <a:solidFill>
                  <a:srgbClr val="ECE3D1"/>
                </a:solidFill>
                <a:latin typeface="Calibri"/>
              </a:rPr>
              <a:t>The Ask: FJD $75,000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3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502920"/>
            <a:ext cx="566928" cy="566928"/>
          </a:xfrm>
          <a:prstGeom prst="roundRect">
            <a:avLst/>
          </a:prstGeom>
          <a:solidFill>
            <a:srgbClr val="6AA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FFFFFF"/>
                </a:solidFill>
                <a:latin typeface="Georgia"/>
              </a:rP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54480" y="457200"/>
            <a:ext cx="96012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2A2118"/>
                </a:solidFill>
                <a:latin typeface="Georgia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1">
                <a:solidFill>
                  <a:srgbClr val="5C4033"/>
                </a:solidFill>
                <a:latin typeface="Georgia"/>
              </a:rPr>
              <a:t>Fiji has the land, the demand, and the farmers — yet families stay trapped in subsistence.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057400"/>
            <a:ext cx="507492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8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2331720"/>
            <a:ext cx="44348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4F8A37"/>
                </a:solidFill>
                <a:latin typeface="Georgia"/>
              </a:rPr>
              <a:t>FJD 1.3B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3200400"/>
            <a:ext cx="44348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5C4033"/>
                </a:solidFill>
                <a:latin typeface="Calibri"/>
              </a:rPr>
              <a:t>imported in food every year — vs only ~FJD 150–250M in agri exports. A ~6:1 gap for food we can grow.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2057400"/>
            <a:ext cx="507492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8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29400" y="2331720"/>
            <a:ext cx="44348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4F8A37"/>
                </a:solidFill>
                <a:latin typeface="Georgia"/>
              </a:rPr>
              <a:t>195,000 ha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3200400"/>
            <a:ext cx="44348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5C4033"/>
                </a:solidFill>
                <a:latin typeface="Calibri"/>
              </a:rPr>
              <a:t>already in farm holdings — under-producing, not unused. The land isn't missing; its potential is.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114800"/>
            <a:ext cx="507492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8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4389120"/>
            <a:ext cx="44348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4F8A37"/>
                </a:solidFill>
                <a:latin typeface="Georgia"/>
              </a:rPr>
              <a:t>Farming by feel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5257800"/>
            <a:ext cx="44348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5C4033"/>
                </a:solidFill>
                <a:latin typeface="Calibri"/>
              </a:rPr>
              <a:t>plant, feed, harvest &amp; sell on intuition → volatile yields and ~26–28% of harvest lost (est.) before sale.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4114800"/>
            <a:ext cx="507492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8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29400" y="4389120"/>
            <a:ext cx="44348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4F8A37"/>
                </a:solidFill>
                <a:latin typeface="Georgia"/>
              </a:rPr>
              <a:t>No record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5257800"/>
            <a:ext cx="44348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5C4033"/>
                </a:solidFill>
                <a:latin typeface="Calibri"/>
              </a:rPr>
              <a:t>informal &amp; undocumented — so banks, ministries &amp; NGOs can't fund them. Productive farmers stay invisible.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89788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1">
                <a:solidFill>
                  <a:srgbClr val="6A5C49"/>
                </a:solidFill>
                <a:latin typeface="Calibri"/>
              </a:rPr>
              <a:t>Sources: Fiji Bureau of Statistics (trade); Fiji National Agricultural Census; Fiji Development Bank. Post-harvest loss: sector estimate.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6355080"/>
            <a:ext cx="10545775" cy="10972"/>
          </a:xfrm>
          <a:prstGeom prst="rect">
            <a:avLst/>
          </a:prstGeom>
          <a:solidFill>
            <a:srgbClr val="E2D8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400800"/>
            <a:ext cx="6858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A5C49"/>
                </a:solidFill>
                <a:latin typeface="Calibri"/>
              </a:rPr>
              <a:t>Teivaka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39535" y="640080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1">
                <a:solidFill>
                  <a:srgbClr val="6A5C49"/>
                </a:solidFill>
                <a:latin typeface="Calibri"/>
              </a:rPr>
              <a:t>The problem isn't land or market — it's the missing infrastructure to connect them.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3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502920"/>
            <a:ext cx="566928" cy="566928"/>
          </a:xfrm>
          <a:prstGeom prst="roundRect">
            <a:avLst/>
          </a:prstGeom>
          <a:solidFill>
            <a:srgbClr val="6AA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FFFFFF"/>
                </a:solidFill>
                <a:latin typeface="Georgia"/>
              </a:rP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54480" y="457200"/>
            <a:ext cx="96012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2A2118"/>
                </a:solidFill>
                <a:latin typeface="Georgia"/>
              </a:rP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1">
                <a:solidFill>
                  <a:srgbClr val="5C4033"/>
                </a:solidFill>
                <a:latin typeface="Georgia"/>
              </a:rPr>
              <a:t>One login. One farmer record. Four pillars — and every pillar closes a money leak.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57400"/>
            <a:ext cx="54864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C4033"/>
                </a:solidFill>
                <a:latin typeface="Calibri"/>
              </a:rPr>
              <a:t>Low yields, thin margins — no field-tested system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2075688"/>
            <a:ext cx="1280160" cy="310896"/>
          </a:xfrm>
          <a:prstGeom prst="roundRect">
            <a:avLst/>
          </a:prstGeom>
          <a:solidFill>
            <a:srgbClr val="6AA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TIS ·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624328"/>
            <a:ext cx="54864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C4033"/>
                </a:solidFill>
                <a:latin typeface="Calibri"/>
              </a:rPr>
              <a:t>Planting misses the import-price window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2642616"/>
            <a:ext cx="1280160" cy="310896"/>
          </a:xfrm>
          <a:prstGeom prst="roundRect">
            <a:avLst/>
          </a:prstGeom>
          <a:solidFill>
            <a:srgbClr val="BF9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Classroom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191256"/>
            <a:ext cx="54864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C4033"/>
                </a:solidFill>
                <a:latin typeface="Calibri"/>
              </a:rPr>
              <a:t>~26–28% of harvest lost before sale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3209544"/>
            <a:ext cx="1280160" cy="310896"/>
          </a:xfrm>
          <a:prstGeom prst="roundRect">
            <a:avLst/>
          </a:prstGeom>
          <a:solidFill>
            <a:srgbClr val="5C4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TFOS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758184"/>
            <a:ext cx="54864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C4033"/>
                </a:solidFill>
                <a:latin typeface="Calibri"/>
              </a:rPr>
              <a:t>Productive land idle — no record to unlock finance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3776472"/>
            <a:ext cx="1280160" cy="310896"/>
          </a:xfrm>
          <a:prstGeom prst="roundRect">
            <a:avLst/>
          </a:prstGeom>
          <a:solidFill>
            <a:srgbClr val="5C4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TFOS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325112"/>
            <a:ext cx="54864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C4033"/>
                </a:solidFill>
                <a:latin typeface="Calibri"/>
              </a:rPr>
              <a:t>Farmers sell blind — no live price signal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4343400"/>
            <a:ext cx="1280160" cy="310896"/>
          </a:xfrm>
          <a:prstGeom prst="roundRect">
            <a:avLst/>
          </a:prstGeom>
          <a:solidFill>
            <a:srgbClr val="4F9D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Community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892040"/>
            <a:ext cx="54864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C4033"/>
                </a:solidFill>
                <a:latin typeface="Calibri"/>
              </a:rPr>
              <a:t>Hotels import what grows on the next farm over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4910328"/>
            <a:ext cx="1280160" cy="310896"/>
          </a:xfrm>
          <a:prstGeom prst="roundRect">
            <a:avLst/>
          </a:prstGeom>
          <a:solidFill>
            <a:srgbClr val="4F9D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Community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55279" y="2011680"/>
            <a:ext cx="3383280" cy="3657600"/>
          </a:xfrm>
          <a:prstGeom prst="roundRect">
            <a:avLst/>
          </a:prstGeom>
          <a:solidFill>
            <a:srgbClr val="5C4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2286000"/>
            <a:ext cx="28346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Georgia"/>
              </a:rPr>
              <a:t>The Teivaka Agriculture Ecosystem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3200400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9ED080"/>
                </a:solidFill>
                <a:latin typeface="Calibri"/>
              </a:rPr>
              <a:t>Community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3456432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ECE3D1"/>
                </a:solidFill>
                <a:latin typeface="Calibri"/>
              </a:rPr>
              <a:t>marketplace &amp; live prices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3767328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9ED080"/>
                </a:solidFill>
                <a:latin typeface="Calibri"/>
              </a:rPr>
              <a:t>TFOS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4023360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ECE3D1"/>
                </a:solidFill>
                <a:latin typeface="Calibri"/>
              </a:rPr>
              <a:t>the record engine → bankable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4334256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9ED080"/>
                </a:solidFill>
                <a:latin typeface="Calibri"/>
              </a:rPr>
              <a:t>Classroom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4590288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ECE3D1"/>
                </a:solidFill>
                <a:latin typeface="Calibri"/>
              </a:rPr>
              <a:t>practical local education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4901184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9ED080"/>
                </a:solidFill>
                <a:latin typeface="Calibri"/>
              </a:rPr>
              <a:t>TIS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5157216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ECE3D1"/>
                </a:solidFill>
                <a:latin typeface="Calibri"/>
              </a:rPr>
              <a:t>24/7 AI on WhatsApp (EN·Fijian·Hindi)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2960" y="6355080"/>
            <a:ext cx="10545775" cy="10972"/>
          </a:xfrm>
          <a:prstGeom prst="rect">
            <a:avLst/>
          </a:prstGeom>
          <a:solidFill>
            <a:srgbClr val="E2D8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6400800"/>
            <a:ext cx="6858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A5C49"/>
                </a:solidFill>
                <a:latin typeface="Calibri"/>
              </a:rPr>
              <a:t>Teivaka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39535" y="640080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1">
                <a:solidFill>
                  <a:srgbClr val="6A5C49"/>
                </a:solidFill>
                <a:latin typeface="Calibri"/>
              </a:rPr>
              <a:t>No feature without a dollar behind it.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3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502920"/>
            <a:ext cx="566928" cy="566928"/>
          </a:xfrm>
          <a:prstGeom prst="roundRect">
            <a:avLst/>
          </a:prstGeom>
          <a:solidFill>
            <a:srgbClr val="6AA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FFFFFF"/>
                </a:solidFill>
                <a:latin typeface="Georgia"/>
              </a:rP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54480" y="457200"/>
            <a:ext cx="96012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2A2118"/>
                </a:solidFill>
                <a:latin typeface="Georgia"/>
              </a:rPr>
              <a:t>Market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1">
                <a:solidFill>
                  <a:srgbClr val="5C4033"/>
                </a:solidFill>
                <a:latin typeface="Georgia"/>
              </a:rPr>
              <a:t>The demand is already proven — by a FJD 1.3B import bill.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011680"/>
            <a:ext cx="338328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8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2286000"/>
            <a:ext cx="27432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4F8A37"/>
                </a:solidFill>
                <a:latin typeface="Georgia"/>
              </a:rPr>
              <a:t>83,000+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3154680"/>
            <a:ext cx="2743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5C4033"/>
                </a:solidFill>
                <a:latin typeface="Calibri"/>
              </a:rPr>
              <a:t>addressable smallholder farmers in Fiji — our beachhead.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2011680"/>
            <a:ext cx="338328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8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00600" y="2286000"/>
            <a:ext cx="27432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4F8A37"/>
                </a:solidFill>
                <a:latin typeface="Georgia"/>
              </a:rPr>
              <a:t>14 nations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00600" y="3154680"/>
            <a:ext cx="2743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5C4033"/>
                </a:solidFill>
                <a:latin typeface="Calibri"/>
              </a:rPr>
              <a:t>Pacific next — then global smallholder agriculture.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2011680"/>
            <a:ext cx="338328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8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58200" y="2286000"/>
            <a:ext cx="27432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4F8A37"/>
                </a:solidFill>
                <a:latin typeface="Georgia"/>
              </a:rPr>
              <a:t>Farmers free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58200" y="3154680"/>
            <a:ext cx="2743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5C4033"/>
                </a:solidFill>
                <a:latin typeface="Calibri"/>
              </a:rPr>
              <a:t>the organisations that benefit pay. 8 streams, no single dependency.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297680"/>
            <a:ext cx="10515600" cy="914400"/>
          </a:xfrm>
          <a:prstGeom prst="roundRect">
            <a:avLst/>
          </a:prstGeom>
          <a:solidFill>
            <a:srgbClr val="E8F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4297680"/>
            <a:ext cx="100584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4F8A37"/>
                </a:solidFill>
                <a:latin typeface="Calibri"/>
              </a:rPr>
              <a:t>Marketplace 30%   ·   Sponsored seats 20%   ·   Farmer subs 15%   ·   Agribusiness 10%   ·   Advertising 10%   ·   Education 5%   ·   Financial 5%   ·   Data 5%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6355080"/>
            <a:ext cx="10545775" cy="10972"/>
          </a:xfrm>
          <a:prstGeom prst="rect">
            <a:avLst/>
          </a:prstGeom>
          <a:solidFill>
            <a:srgbClr val="E2D8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6400800"/>
            <a:ext cx="6858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A5C49"/>
                </a:solidFill>
                <a:latin typeface="Calibri"/>
              </a:rPr>
              <a:t>Teivaka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39535" y="640080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1">
                <a:solidFill>
                  <a:srgbClr val="6A5C49"/>
                </a:solidFill>
                <a:latin typeface="Calibri"/>
              </a:rPr>
              <a:t>We don't charge the farmer — we charge the value that flows around the farmer.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3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502920"/>
            <a:ext cx="566928" cy="566928"/>
          </a:xfrm>
          <a:prstGeom prst="roundRect">
            <a:avLst/>
          </a:prstGeom>
          <a:solidFill>
            <a:srgbClr val="6AA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FFFFFF"/>
                </a:solidFill>
                <a:latin typeface="Georgia"/>
              </a:rPr>
              <a:t>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54480" y="457200"/>
            <a:ext cx="96012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2A2118"/>
                </a:solidFill>
                <a:latin typeface="Georgia"/>
              </a:rPr>
              <a:t>How we deliver &amp; scale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1">
                <a:solidFill>
                  <a:srgbClr val="5C4033"/>
                </a:solidFill>
                <a:latin typeface="Georgia"/>
              </a:rPr>
              <a:t>Proven on our own farms first. Then scaled by software — at near-zero marginal cost.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103120"/>
            <a:ext cx="3383280" cy="3017520"/>
          </a:xfrm>
          <a:prstGeom prst="roundRect">
            <a:avLst/>
          </a:prstGeom>
          <a:solidFill>
            <a:srgbClr val="E8F0E0"/>
          </a:solidFill>
          <a:ln w="19050">
            <a:solidFill>
              <a:srgbClr val="6AA8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331720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4F8A37"/>
                </a:solidFill>
                <a:latin typeface="Calibri"/>
              </a:rPr>
              <a:t>PHASE 1 · DONE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74320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2A2118"/>
                </a:solidFill>
                <a:latin typeface="Georgia"/>
              </a:rPr>
              <a:t>Build &amp; prove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383280"/>
            <a:ext cx="292608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5C4033"/>
                </a:solidFill>
                <a:latin typeface="Calibri"/>
              </a:rPr>
              <a:t>Full ecosystem built. 2 working farms returning $10–$12 per $1. Pre-revenue, founder-funded. Public site + TIS live on WhatsApp.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2103120"/>
            <a:ext cx="3383280" cy="3017520"/>
          </a:xfrm>
          <a:prstGeom prst="roundRect">
            <a:avLst/>
          </a:prstGeom>
          <a:solidFill>
            <a:srgbClr val="FBF1D8"/>
          </a:solidFill>
          <a:ln w="19050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0" y="2331720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BF9000"/>
                </a:solidFill>
                <a:latin typeface="Calibri"/>
              </a:rPr>
              <a:t>PHASE 2 · THE $75K · 12 MO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274320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2A2118"/>
                </a:solidFill>
                <a:latin typeface="Georgia"/>
              </a:rPr>
              <a:t>Strengthen &amp; launch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3383280"/>
            <a:ext cx="292608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5C4033"/>
                </a:solidFill>
                <a:latin typeface="Calibri"/>
              </a:rPr>
              <a:t>Harden the platform, 2→10 demo farms, onboard 250 farmers, complete legal, launch publicly. → ~FJD $40k ARR.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2103120"/>
            <a:ext cx="3383280" cy="3017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D8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2331720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6A5C49"/>
                </a:solidFill>
                <a:latin typeface="Calibri"/>
              </a:rPr>
              <a:t>PHASE 3 · FORECAST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274320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2A2118"/>
                </a:solidFill>
                <a:latin typeface="Georgia"/>
              </a:rPr>
              <a:t>Scale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3383280"/>
            <a:ext cx="292608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5C4033"/>
                </a:solidFill>
                <a:latin typeface="Calibri"/>
              </a:rPr>
              <a:t>Sponsored seats (NGO→Ministry) + marketplace become the engine. Pacific expansion. Sets up the seed round.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6355080"/>
            <a:ext cx="10545775" cy="10972"/>
          </a:xfrm>
          <a:prstGeom prst="rect">
            <a:avLst/>
          </a:prstGeom>
          <a:solidFill>
            <a:srgbClr val="E2D8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6400800"/>
            <a:ext cx="6858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A5C49"/>
                </a:solidFill>
                <a:latin typeface="Calibri"/>
              </a:rPr>
              <a:t>Teivaka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39535" y="640080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1">
                <a:solidFill>
                  <a:srgbClr val="6A5C49"/>
                </a:solidFill>
                <a:latin typeface="Calibri"/>
              </a:rPr>
              <a:t>QA = cited knowledge base (no invented agronomy) + audit-anchored records.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3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502920"/>
            <a:ext cx="566928" cy="566928"/>
          </a:xfrm>
          <a:prstGeom prst="roundRect">
            <a:avLst/>
          </a:prstGeom>
          <a:solidFill>
            <a:srgbClr val="6AA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FFFFFF"/>
                </a:solidFill>
                <a:latin typeface="Georgia"/>
              </a:rPr>
              <a:t>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54480" y="457200"/>
            <a:ext cx="96012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2A2118"/>
                </a:solidFill>
                <a:latin typeface="Georgia"/>
              </a:rPr>
              <a:t>The economics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1">
                <a:solidFill>
                  <a:srgbClr val="5C4033"/>
                </a:solidFill>
                <a:latin typeface="Georgia"/>
              </a:rPr>
              <a:t>We built all of this on almost nothing — funded by the farms, not investors.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011680"/>
            <a:ext cx="33832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8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2286000"/>
            <a:ext cx="27432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4F8A37"/>
                </a:solidFill>
                <a:latin typeface="Georgia"/>
              </a:rPr>
              <a:t>$850/mo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3154680"/>
            <a:ext cx="2743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5C4033"/>
                </a:solidFill>
                <a:latin typeface="Calibri"/>
              </a:rPr>
              <a:t>total software burn — funded by the pilot farms. Zero outside capital.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2011680"/>
            <a:ext cx="33832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8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00600" y="2286000"/>
            <a:ext cx="27432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4F8A37"/>
                </a:solidFill>
                <a:latin typeface="Georgia"/>
              </a:rPr>
              <a:t>$10–$12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00600" y="3154680"/>
            <a:ext cx="2743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5C4033"/>
                </a:solidFill>
                <a:latin typeface="Calibri"/>
              </a:rPr>
              <a:t>returned for every $1 spent on the farms. We know our numbers.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2011680"/>
            <a:ext cx="33832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8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58200" y="2286000"/>
            <a:ext cx="27432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4F8A37"/>
                </a:solidFill>
                <a:latin typeface="Georgia"/>
              </a:rPr>
              <a:t>~FJD 40k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58200" y="3154680"/>
            <a:ext cx="2743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5C4033"/>
                </a:solidFill>
                <a:latin typeface="Calibri"/>
              </a:rPr>
              <a:t>target ARR in 12 months — subs + agribusiness + ads + marketplace + sponsored seats.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206240"/>
            <a:ext cx="10515600" cy="1371600"/>
          </a:xfrm>
          <a:prstGeom prst="roundRect">
            <a:avLst/>
          </a:prstGeom>
          <a:solidFill>
            <a:srgbClr val="5C4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4206240"/>
            <a:ext cx="978408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F8F3E9"/>
                </a:solidFill>
                <a:latin typeface="Georgia"/>
              </a:rPr>
              <a:t>Breakeven is one institutional deal away. One NGO sponsoring 500 farmers (FJD $10k/yr) covers our entire annual burn. One Ministry package (FJD $75k/yr) covers it seven times over.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6355080"/>
            <a:ext cx="10545775" cy="10972"/>
          </a:xfrm>
          <a:prstGeom prst="rect">
            <a:avLst/>
          </a:prstGeom>
          <a:solidFill>
            <a:srgbClr val="E2D8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6400800"/>
            <a:ext cx="6858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A5C49"/>
                </a:solidFill>
                <a:latin typeface="Calibri"/>
              </a:rPr>
              <a:t>Teivaka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39535" y="640080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1">
                <a:solidFill>
                  <a:srgbClr val="6A5C49"/>
                </a:solidFill>
                <a:latin typeface="Calibri"/>
              </a:rPr>
              <a:t>Pre-revenue — by design, not by accident.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3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502920"/>
            <a:ext cx="566928" cy="566928"/>
          </a:xfrm>
          <a:prstGeom prst="roundRect">
            <a:avLst/>
          </a:prstGeom>
          <a:solidFill>
            <a:srgbClr val="6AA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FFFFFF"/>
                </a:solidFill>
                <a:latin typeface="Georgia"/>
              </a:rPr>
              <a:t>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54480" y="457200"/>
            <a:ext cx="96012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2A2118"/>
                </a:solidFill>
                <a:latin typeface="Georgia"/>
              </a:rPr>
              <a:t>Why a neighbour can't copy us tomorrow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554480"/>
            <a:ext cx="502920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8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1828800"/>
            <a:ext cx="44805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4F8A37"/>
                </a:solidFill>
                <a:latin typeface="Georgia"/>
              </a:rPr>
              <a:t>The data moat compounds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560320"/>
            <a:ext cx="4480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5C4033"/>
                </a:solidFill>
                <a:latin typeface="Calibri"/>
              </a:rPr>
              <a:t>years of verified farm records can't be faked or rushed. The earlier we start, the bigger the lead.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554480"/>
            <a:ext cx="502920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8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828800"/>
            <a:ext cx="44805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4F8A37"/>
                </a:solidFill>
                <a:latin typeface="Georgia"/>
              </a:rPr>
              <a:t>Cited, local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560320"/>
            <a:ext cx="4480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5C4033"/>
                </a:solidFill>
                <a:latin typeface="Calibri"/>
              </a:rPr>
              <a:t>a Fiji-specific knowledge base, in-language — generic AI can't match it, and it never invents agronomy.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749039"/>
            <a:ext cx="502920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8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023359"/>
            <a:ext cx="44805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4F8A37"/>
                </a:solidFill>
                <a:latin typeface="Georgia"/>
              </a:rPr>
              <a:t>Ecosystem lock-in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4754879"/>
            <a:ext cx="4480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5C4033"/>
                </a:solidFill>
                <a:latin typeface="Calibri"/>
              </a:rPr>
              <a:t>one login across market + records + learning + AI = real switching cost.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3749039"/>
            <a:ext cx="502920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8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4023359"/>
            <a:ext cx="44805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4F8A37"/>
                </a:solidFill>
                <a:latin typeface="Georgia"/>
              </a:rPr>
              <a:t>Distribution + credibility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4754879"/>
            <a:ext cx="4480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5C4033"/>
                </a:solidFill>
                <a:latin typeface="Calibri"/>
              </a:rPr>
              <a:t>WhatsApp-native, low-literacy accessible — and built by farmers, on profitable farms.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6355080"/>
            <a:ext cx="10545775" cy="10972"/>
          </a:xfrm>
          <a:prstGeom prst="rect">
            <a:avLst/>
          </a:prstGeom>
          <a:solidFill>
            <a:srgbClr val="E2D8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6400800"/>
            <a:ext cx="6858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A5C49"/>
                </a:solidFill>
                <a:latin typeface="Calibri"/>
              </a:rPr>
              <a:t>Teivaka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39535" y="640080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1">
                <a:solidFill>
                  <a:srgbClr val="6A5C49"/>
                </a:solidFill>
                <a:latin typeface="Calibri"/>
              </a:rPr>
              <a:t>We give the software away — and that's exactly why it's defensible.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3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502920"/>
            <a:ext cx="566928" cy="566928"/>
          </a:xfrm>
          <a:prstGeom prst="roundRect">
            <a:avLst/>
          </a:prstGeom>
          <a:solidFill>
            <a:srgbClr val="6AA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FFFFFF"/>
                </a:solidFill>
                <a:latin typeface="Georgia"/>
              </a:rPr>
              <a:t>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54480" y="457200"/>
            <a:ext cx="96012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2A2118"/>
                </a:solidFill>
                <a:latin typeface="Georgia"/>
              </a:rPr>
              <a:t>The 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1">
                <a:solidFill>
                  <a:srgbClr val="5C4033"/>
                </a:solidFill>
                <a:latin typeface="Georgia"/>
              </a:rPr>
              <a:t>Four Fijians. We run the farms. We build the platform. Same people.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011680"/>
            <a:ext cx="260604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8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94460" y="2240280"/>
            <a:ext cx="822960" cy="822960"/>
          </a:xfrm>
          <a:prstGeom prst="ellipse">
            <a:avLst/>
          </a:prstGeom>
          <a:solidFill>
            <a:srgbClr val="6AA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Georgia"/>
              </a:rPr>
              <a:t>UK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200400"/>
            <a:ext cx="2331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2A2118"/>
                </a:solidFill>
                <a:latin typeface="Georgia"/>
              </a:rPr>
              <a:t>Uraia Koroi Kama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703320"/>
            <a:ext cx="2423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4F8A37"/>
                </a:solidFill>
                <a:latin typeface="Calibri"/>
              </a:rPr>
              <a:t>FOUNDER &amp; DIRECTOR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114800"/>
            <a:ext cx="22402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5C4033"/>
                </a:solidFill>
                <a:latin typeface="Calibri"/>
              </a:rPr>
              <a:t>Strategy, partnerships, platform architecture. Left a Science Degree; seven years farming. Knows every pain point — and builds the platform.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91839" y="2011680"/>
            <a:ext cx="260604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8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183379" y="2240280"/>
            <a:ext cx="822960" cy="822960"/>
          </a:xfrm>
          <a:prstGeom prst="ellipse">
            <a:avLst/>
          </a:prstGeom>
          <a:solidFill>
            <a:srgbClr val="6AA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Georgia"/>
              </a:rPr>
              <a:t>TK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8999" y="3200400"/>
            <a:ext cx="2331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2A2118"/>
                </a:solidFill>
                <a:latin typeface="Georgia"/>
              </a:rPr>
              <a:t>Taniela Kama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79" y="3703320"/>
            <a:ext cx="2423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4F8A37"/>
                </a:solidFill>
                <a:latin typeface="Calibri"/>
              </a:rPr>
              <a:t>FIELD OPS &amp; NURSERY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4114800"/>
            <a:ext cx="22402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5C4033"/>
                </a:solidFill>
                <a:latin typeface="Calibri"/>
              </a:rPr>
              <a:t>Nursery, land prep, farm layout. 20+ years of Fiji farming knowledge. Ready before planting.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80759" y="2011680"/>
            <a:ext cx="260604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8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972299" y="2240280"/>
            <a:ext cx="822960" cy="822960"/>
          </a:xfrm>
          <a:prstGeom prst="ellipse">
            <a:avLst/>
          </a:prstGeom>
          <a:solidFill>
            <a:srgbClr val="6AA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Georgia"/>
              </a:rPr>
              <a:t>LW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3200400"/>
            <a:ext cx="2331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2A2118"/>
                </a:solidFill>
                <a:latin typeface="Georgia"/>
              </a:rPr>
              <a:t>Laisenia Waqa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199" y="3703320"/>
            <a:ext cx="2423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4F8A37"/>
                </a:solidFill>
                <a:latin typeface="Calibri"/>
              </a:rPr>
              <a:t>CROP PRODUCTION &amp; HARVEST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4114800"/>
            <a:ext cx="22402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5C4033"/>
                </a:solidFill>
                <a:latin typeface="Calibri"/>
              </a:rPr>
              <a:t>Full crop cycle — pest, weed, nutrient. Quality control. Market-grade yield.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869680" y="2011680"/>
            <a:ext cx="260604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8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761220" y="2240280"/>
            <a:ext cx="822960" cy="822960"/>
          </a:xfrm>
          <a:prstGeom prst="ellipse">
            <a:avLst/>
          </a:prstGeom>
          <a:solidFill>
            <a:srgbClr val="6AA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Georgia"/>
              </a:rPr>
              <a:t>KW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06840" y="3200400"/>
            <a:ext cx="2331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2A2118"/>
                </a:solidFill>
                <a:latin typeface="Georgia"/>
              </a:rPr>
              <a:t>Kinisimere Wati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19" y="3703320"/>
            <a:ext cx="2423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4F8A37"/>
                </a:solidFill>
                <a:latin typeface="Calibri"/>
              </a:rPr>
              <a:t>FINANCE &amp; OPERATIONS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59" y="4114800"/>
            <a:ext cx="22402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5C4033"/>
                </a:solidFill>
                <a:latin typeface="Calibri"/>
              </a:rPr>
              <a:t>Bookkeeping, payroll, revenue, invoices. Every figure tight and transparent.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4406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 i="1">
                <a:solidFill>
                  <a:srgbClr val="6A5C49"/>
                </a:solidFill>
                <a:latin typeface="Georgia"/>
              </a:rPr>
              <a:t>100% Fijian. 100% local ownership. Female finance lead by design.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" y="6355080"/>
            <a:ext cx="10545775" cy="10972"/>
          </a:xfrm>
          <a:prstGeom prst="rect">
            <a:avLst/>
          </a:prstGeom>
          <a:solidFill>
            <a:srgbClr val="E2D8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6400800"/>
            <a:ext cx="6858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A5C49"/>
                </a:solidFill>
                <a:latin typeface="Calibri"/>
              </a:rPr>
              <a:t>Teivaka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39535" y="640080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1">
                <a:solidFill>
                  <a:srgbClr val="6A5C49"/>
                </a:solidFill>
                <a:latin typeface="Calibri"/>
              </a:rPr>
              <a:t>Founder-operators — we run what we build.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3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502920"/>
            <a:ext cx="566928" cy="566928"/>
          </a:xfrm>
          <a:prstGeom prst="roundRect">
            <a:avLst/>
          </a:prstGeom>
          <a:solidFill>
            <a:srgbClr val="6AA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FFFFFF"/>
                </a:solidFill>
                <a:latin typeface="Georgia"/>
              </a:rPr>
              <a:t>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54480" y="457200"/>
            <a:ext cx="96012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2A2118"/>
                </a:solidFill>
                <a:latin typeface="Georgia"/>
              </a:rPr>
              <a:t>The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4F8A37"/>
                </a:solidFill>
                <a:latin typeface="Calibri"/>
              </a:rPr>
              <a:t>PRE-SEED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737360"/>
            <a:ext cx="45720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800" b="1" i="0">
                <a:solidFill>
                  <a:srgbClr val="4F8A37"/>
                </a:solidFill>
                <a:latin typeface="Georgia"/>
              </a:rPr>
              <a:t>FJD $75,000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017520"/>
            <a:ext cx="47548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5C4033"/>
                </a:solidFill>
                <a:latin typeface="Calibri"/>
              </a:rPr>
              <a:t>To go from a founder-funded pilot to a commercially ready ecosystem — and launch publicly in 12 months.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06240"/>
            <a:ext cx="49377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6A5C49"/>
                </a:solidFill>
                <a:latin typeface="Calibri"/>
              </a:rPr>
              <a:t>12-mo: 250 registered · 150 active · 50 paying · 20 agribusiness · 10 farms · ~FJD $40k ARR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035040" y="1554480"/>
          <a:ext cx="530352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360"/>
                <a:gridCol w="1280160"/>
              </a:tblGrid>
              <a:tr h="574765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5C4033"/>
                          </a:solidFill>
                          <a:latin typeface="Calibri"/>
                        </a:rPr>
                        <a:t>Product strengthening &amp; commercial readiness</a:t>
                      </a:r>
                    </a:p>
                  </a:txBody>
                  <a:tcPr marL="10972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2A2118"/>
                          </a:solidFill>
                          <a:latin typeface="Calibri"/>
                        </a:rPr>
                        <a:t>22,500</a:t>
                      </a:r>
                    </a:p>
                  </a:txBody>
                  <a:tcPr marL="109728" marT="36576" marB="36576">
                    <a:solidFill>
                      <a:srgbClr val="FFFFFF"/>
                    </a:solidFill>
                  </a:tcPr>
                </a:tc>
              </a:tr>
              <a:tr h="574765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5C4033"/>
                          </a:solidFill>
                          <a:latin typeface="Calibri"/>
                        </a:rPr>
                        <a:t>Pilot network &amp; data validation (2→10 farms)</a:t>
                      </a:r>
                    </a:p>
                  </a:txBody>
                  <a:tcPr marL="10972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2A2118"/>
                          </a:solidFill>
                          <a:latin typeface="Calibri"/>
                        </a:rPr>
                        <a:t>15,000</a:t>
                      </a:r>
                    </a:p>
                  </a:txBody>
                  <a:tcPr marL="109728" marT="36576" marB="36576">
                    <a:solidFill>
                      <a:srgbClr val="FFFFFF"/>
                    </a:solidFill>
                  </a:tcPr>
                </a:tc>
              </a:tr>
              <a:tr h="574765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5C4033"/>
                          </a:solidFill>
                          <a:latin typeface="Calibri"/>
                        </a:rPr>
                        <a:t>Farmer acquisition &amp; onboarding (250)</a:t>
                      </a:r>
                    </a:p>
                  </a:txBody>
                  <a:tcPr marL="10972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2A2118"/>
                          </a:solidFill>
                          <a:latin typeface="Calibri"/>
                        </a:rPr>
                        <a:t>18,750</a:t>
                      </a:r>
                    </a:p>
                  </a:txBody>
                  <a:tcPr marL="109728" marT="36576" marB="36576">
                    <a:solidFill>
                      <a:srgbClr val="FFFFFF"/>
                    </a:solidFill>
                  </a:tcPr>
                </a:tc>
              </a:tr>
              <a:tr h="574765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5C4033"/>
                          </a:solidFill>
                          <a:latin typeface="Calibri"/>
                        </a:rPr>
                        <a:t>Operations &amp; infrastructure (12 mo)</a:t>
                      </a:r>
                    </a:p>
                  </a:txBody>
                  <a:tcPr marL="10972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2A2118"/>
                          </a:solidFill>
                          <a:latin typeface="Calibri"/>
                        </a:rPr>
                        <a:t>7,500</a:t>
                      </a:r>
                    </a:p>
                  </a:txBody>
                  <a:tcPr marL="109728" marT="36576" marB="36576">
                    <a:solidFill>
                      <a:srgbClr val="FFFFFF"/>
                    </a:solidFill>
                  </a:tcPr>
                </a:tc>
              </a:tr>
              <a:tr h="574765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5C4033"/>
                          </a:solidFill>
                          <a:latin typeface="Calibri"/>
                        </a:rPr>
                        <a:t>Legal, compliance &amp; governance</a:t>
                      </a:r>
                    </a:p>
                  </a:txBody>
                  <a:tcPr marL="10972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2A2118"/>
                          </a:solidFill>
                          <a:latin typeface="Calibri"/>
                        </a:rPr>
                        <a:t>5,250</a:t>
                      </a:r>
                    </a:p>
                  </a:txBody>
                  <a:tcPr marL="109728" marT="36576" marB="36576">
                    <a:solidFill>
                      <a:srgbClr val="FFFFFF"/>
                    </a:solidFill>
                  </a:tcPr>
                </a:tc>
              </a:tr>
              <a:tr h="574765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5C4033"/>
                          </a:solidFill>
                          <a:latin typeface="Calibri"/>
                        </a:rPr>
                        <a:t>Launch reserve (buffer)</a:t>
                      </a:r>
                    </a:p>
                  </a:txBody>
                  <a:tcPr marL="10972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2A2118"/>
                          </a:solidFill>
                          <a:latin typeface="Calibri"/>
                        </a:rPr>
                        <a:t>6,000</a:t>
                      </a:r>
                    </a:p>
                  </a:txBody>
                  <a:tcPr marL="109728" marT="36576" marB="36576">
                    <a:solidFill>
                      <a:srgbClr val="FFFFFF"/>
                    </a:solidFill>
                  </a:tcPr>
                </a:tc>
              </a:tr>
              <a:tr h="57477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5C4033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 marL="109728" marT="36576" marB="36576">
                    <a:solidFill>
                      <a:srgbClr val="E8F0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2A2118"/>
                          </a:solidFill>
                          <a:latin typeface="Calibri"/>
                        </a:rPr>
                        <a:t>FJD 75,000</a:t>
                      </a:r>
                    </a:p>
                  </a:txBody>
                  <a:tcPr marL="109728" marT="36576" marB="36576">
                    <a:solidFill>
                      <a:srgbClr val="E8F0E0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822960" y="6355080"/>
            <a:ext cx="10545775" cy="10972"/>
          </a:xfrm>
          <a:prstGeom prst="rect">
            <a:avLst/>
          </a:prstGeom>
          <a:solidFill>
            <a:srgbClr val="E2D8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6400800"/>
            <a:ext cx="6858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A5C49"/>
                </a:solidFill>
                <a:latin typeface="Calibri"/>
              </a:rPr>
              <a:t>Teivaka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39535" y="640080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1">
                <a:solidFill>
                  <a:srgbClr val="6A5C49"/>
                </a:solidFill>
                <a:latin typeface="Calibri"/>
              </a:rPr>
              <a:t>Aggressive enough to matter. Conservative enough to defend.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3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502920"/>
            <a:ext cx="566928" cy="566928"/>
          </a:xfrm>
          <a:prstGeom prst="roundRect">
            <a:avLst/>
          </a:prstGeom>
          <a:solidFill>
            <a:srgbClr val="6AA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FFFFFF"/>
                </a:solidFill>
                <a:latin typeface="Georgia"/>
              </a:rPr>
              <a:t>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54480" y="457200"/>
            <a:ext cx="96012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2A2118"/>
                </a:solidFill>
                <a:latin typeface="Georgia"/>
              </a:rPr>
              <a:t>The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1">
                <a:solidFill>
                  <a:srgbClr val="5C4033"/>
                </a:solidFill>
                <a:latin typeface="Georgia"/>
              </a:rPr>
              <a:t>When a farmer becomes visible, everything downstream changes.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011680"/>
            <a:ext cx="3383280" cy="2651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8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2240280"/>
            <a:ext cx="1554480" cy="365760"/>
          </a:xfrm>
          <a:prstGeom prst="roundRect">
            <a:avLst/>
          </a:prstGeom>
          <a:solidFill>
            <a:srgbClr val="E8F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4F8A37"/>
                </a:solidFill>
              </a:rPr>
              <a:t>Economic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743200"/>
            <a:ext cx="2834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sz="1150">
                <a:solidFill>
                  <a:srgbClr val="5C4033"/>
                </a:solidFill>
                <a:latin typeface="Calibri"/>
              </a:rPr>
              <a:t>• Idle land activated into income</a:t>
            </a:r>
          </a:p>
          <a:p>
            <a:pPr>
              <a:lnSpc>
                <a:spcPct val="105000"/>
              </a:lnSpc>
            </a:pPr>
            <a:r>
              <a:rPr sz="1150">
                <a:solidFill>
                  <a:srgbClr val="5C4033"/>
                </a:solidFill>
                <a:latin typeface="Calibri"/>
              </a:rPr>
              <a:t>• Records make farmers bankable — credit flows</a:t>
            </a:r>
          </a:p>
          <a:p>
            <a:pPr>
              <a:lnSpc>
                <a:spcPct val="105000"/>
              </a:lnSpc>
            </a:pPr>
            <a:r>
              <a:rPr sz="1150">
                <a:solidFill>
                  <a:srgbClr val="5C4033"/>
                </a:solidFill>
                <a:latin typeface="Calibri"/>
              </a:rPr>
              <a:t>• Local supply chips at the $1.3B import bill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2011680"/>
            <a:ext cx="3383280" cy="2651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8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754880" y="2240280"/>
            <a:ext cx="1554480" cy="365760"/>
          </a:xfrm>
          <a:prstGeom prst="roundRect">
            <a:avLst/>
          </a:prstGeom>
          <a:solidFill>
            <a:srgbClr val="E8F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4F8A37"/>
                </a:solidFill>
              </a:rPr>
              <a:t>Social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2743200"/>
            <a:ext cx="2834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sz="1150">
                <a:solidFill>
                  <a:srgbClr val="5C4033"/>
                </a:solidFill>
                <a:latin typeface="Calibri"/>
              </a:rPr>
              <a:t>• Knowledge &amp; markets reach every farmer — in their language</a:t>
            </a:r>
          </a:p>
          <a:p>
            <a:pPr>
              <a:lnSpc>
                <a:spcPct val="105000"/>
              </a:lnSpc>
            </a:pPr>
            <a:r>
              <a:rPr sz="1150">
                <a:solidFill>
                  <a:srgbClr val="5C4033"/>
                </a:solidFill>
                <a:latin typeface="Calibri"/>
              </a:rPr>
              <a:t>• 100% Fijian, 100% locally owned</a:t>
            </a:r>
          </a:p>
          <a:p>
            <a:pPr>
              <a:lnSpc>
                <a:spcPct val="105000"/>
              </a:lnSpc>
            </a:pPr>
            <a:r>
              <a:rPr sz="1150">
                <a:solidFill>
                  <a:srgbClr val="5C4033"/>
                </a:solidFill>
                <a:latin typeface="Calibri"/>
              </a:rPr>
              <a:t>• Female finance lead by design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2011680"/>
            <a:ext cx="3383280" cy="2651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8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412480" y="2240280"/>
            <a:ext cx="1554480" cy="365760"/>
          </a:xfrm>
          <a:prstGeom prst="roundRect">
            <a:avLst/>
          </a:prstGeom>
          <a:solidFill>
            <a:srgbClr val="E8F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4F8A37"/>
                </a:solidFill>
              </a:rPr>
              <a:t>Environmental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2743200"/>
            <a:ext cx="2834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sz="1150">
                <a:solidFill>
                  <a:srgbClr val="5C4033"/>
                </a:solidFill>
                <a:latin typeface="Calibri"/>
              </a:rPr>
              <a:t>• Less post-harvest waste (~26–28% today)</a:t>
            </a:r>
          </a:p>
          <a:p>
            <a:pPr>
              <a:lnSpc>
                <a:spcPct val="105000"/>
              </a:lnSpc>
            </a:pPr>
            <a:r>
              <a:rPr sz="1150">
                <a:solidFill>
                  <a:srgbClr val="5C4033"/>
                </a:solidFill>
                <a:latin typeface="Calibri"/>
              </a:rPr>
              <a:t>• Better-timed inputs, healthier soil</a:t>
            </a:r>
          </a:p>
          <a:p>
            <a:pPr>
              <a:lnSpc>
                <a:spcPct val="105000"/>
              </a:lnSpc>
            </a:pPr>
            <a:r>
              <a:rPr sz="1150">
                <a:solidFill>
                  <a:srgbClr val="5C4033"/>
                </a:solidFill>
                <a:latin typeface="Calibri"/>
              </a:rPr>
              <a:t>• Productive use of existing land — no new clearing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892040"/>
            <a:ext cx="10515600" cy="1005840"/>
          </a:xfrm>
          <a:prstGeom prst="roundRect">
            <a:avLst/>
          </a:prstGeom>
          <a:solidFill>
            <a:srgbClr val="5C4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4892040"/>
            <a:ext cx="978408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 i="0">
                <a:solidFill>
                  <a:srgbClr val="F8F3E9"/>
                </a:solidFill>
                <a:latin typeface="Georgia"/>
              </a:rPr>
              <a:t>The land, the demand, and the farmers are already here. Teivaka is the operating system that finally connects them.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6355080"/>
            <a:ext cx="10545775" cy="10972"/>
          </a:xfrm>
          <a:prstGeom prst="rect">
            <a:avLst/>
          </a:prstGeom>
          <a:solidFill>
            <a:srgbClr val="E2D8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6400800"/>
            <a:ext cx="6858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A5C49"/>
                </a:solidFill>
                <a:latin typeface="Calibri"/>
              </a:rPr>
              <a:t>Uraia Koroi Kama (Cody) · founder@teivaka.com · teivaka.com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39535" y="640080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1">
                <a:solidFill>
                  <a:srgbClr val="6A5C49"/>
                </a:solidFill>
                <a:latin typeface="Calibri"/>
              </a:rPr>
              <a:t>Build the future of Pacific agriculture.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